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32004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13432" cy="1828800"/>
          </a:xfrm>
          <a:prstGeom prst="rect">
            <a:avLst/>
          </a:prstGeom>
          <a:solidFill>
            <a:srgbClr val="A0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005840" cy="10058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373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TRACEON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7889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6A48"/>
                </a:solidFill>
              </a:rPr>
              <a:t>AI-Powered Execution Flow Visualizer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  ·  C++  ·  Python  ·  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172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99"/>
                </a:solidFill>
              </a:rPr>
              <a:t>React 18  ·  FastAPI  ·  LLDB  ·  Gemini AI  ·  Monaco 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172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96A48"/>
                </a:solidFill>
              </a:rPr>
              <a:t>frontend-gamma-vert-20.vercel.app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WHAT IS TRACEON?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0">
                <a:solidFill>
                  <a:srgbClr val="FFFFFF"/>
                </a:solidFill>
              </a:rPr>
              <a:t>Traceon is a full-stack development tool that makes program execution visible — step by step, line by line.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CCCCCC"/>
                </a:solidFill>
              </a:rPr>
              <a:t>Developers use it to: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Understand how code actually runs at runtime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Catch bugs by watching variables change live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Visualise function call graphs automatically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Get AI-generated explanations and optimisations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• Share code snippets via encoded URL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C96A48"/>
                </a:solidFill>
              </a:rPr>
              <a:t>No setup. No plugin. Just paste your code and debug.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2468880" cy="109728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727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6A48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Languages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463040"/>
            <a:ext cx="2468880" cy="109728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157276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6A48"/>
                </a:solidFill>
              </a:rP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Major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43200"/>
            <a:ext cx="2468880" cy="109728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529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6A48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Editor Themes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743200"/>
            <a:ext cx="2468880" cy="109728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85292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6A48"/>
                </a:solidFill>
              </a:rPr>
              <a:t>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AI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2468880" cy="109728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3308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6A48"/>
                </a:solidFill>
              </a:rPr>
              <a:t>LLDB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Debugger 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4023360"/>
            <a:ext cx="2468880" cy="109728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413308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6A48"/>
                </a:solidFill>
              </a:rPr>
              <a:t>Vercel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617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657600" cy="5074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576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>
                <a:solidFill>
                  <a:srgbClr val="CCCCCC"/>
                </a:solidFill>
              </a:rPr>
              <a:t>• React 18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Monaco Editor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CSS Variables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5 Themes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State-based routing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Google OAuth (popup)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JWT localStorage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Vercel 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3657600" cy="5074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36576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>
                <a:solidFill>
                  <a:srgbClr val="CCCCCC"/>
                </a:solidFill>
              </a:rPr>
              <a:t>• FastAPI + Uvicorn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LLDB (C / C++)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sys.settrace (Python)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JVM Tracer (Java)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Gemini AI API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Google OAuth2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JTI Blocklist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MongoDB (optional)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1417320"/>
            <a:ext cx="3657600" cy="5074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417320"/>
            <a:ext cx="36576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463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116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>
                <a:solidFill>
                  <a:srgbClr val="CCCCCC"/>
                </a:solidFill>
              </a:rPr>
              <a:t>• Gemini 1.5 Flash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Code Generation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Execution Explanation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Performance Optimiser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Hotspot Analysis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Prompt Engineering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Streaming Responses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• 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6A48"/>
                </a:solidFill>
              </a:rPr>
              <a:t>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6A48"/>
                </a:solidFill>
              </a:rPr>
              <a:t>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Port 3000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Port 8000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99"/>
                </a:solidFill>
              </a:rPr>
              <a:t>Gemini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SMART CODE EDITOR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0876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Monaco Editor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VS Code-grade editor with syntax highlighting, auto-complete, and IntelliSense-style UX across all 4 languages.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6304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4630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50876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5 Editor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116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Light · Dark · Ocean · Forest · Midnight — CSS-variable-driven, zero flicker on switch.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46304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4630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50876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Live Syntax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0116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Clang -fsyntax-only runs debounced every 1500 ms. Errors appear as red squiggles inline.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8620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93192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Breakpoint Gutter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Click any line number to toggle a red breakpoint dot. Persisted to localStorage. Auto-pauses during playback.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88620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88620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6" y="393192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Execution Heatmap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After a debug run, gutter bars colour each line blue→yellow→red based on hit count. Shows hot paths instantly.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388620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388620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393192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Share Code Button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Encodes code + language into a URL hash (base64). One click copies the link — shareable with no backend.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EXECUTION DEBUGGER &amp; FLOW VISUALIZER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50876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Step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Step Over · Step Into · Step Out · Back — full bi-directional navigation of execution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6304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4630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50876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Auto-Play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116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Configurable speed (150 ms–2000 ms). Toggle Step In vs Step Over mode during playback.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46304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4630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50876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Timeline Scrubber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01168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Drag or click the progress bar to jump to any visited step. Red tick marks show breakpoint positions.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8620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8620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93192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Breakpoint Auto-Pause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Execution auto-halts when a breakpointed line is hit during play. Shows a Resume badge.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88620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0248" y="388620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9976" y="393192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Performance Badge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⚡ Blazing (≤20 steps) · 🟡 Moderate (≤120) · 🔴 Heavy (&gt;120) — shown next to the step counter.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388620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0456" y="388620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4" y="393192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Call Graph SVG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443484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Live SVG showing function call relationships built from the execution trace.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630936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630936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635508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Variable Change 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85800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Every step shows which variables changed, their old/new values, and the current call stack.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6309360"/>
            <a:ext cx="3749039" cy="224028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0248" y="630936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9976" y="635508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Keyboard Shortcuts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6858000"/>
            <a:ext cx="3474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← → arrow keys, Space (play/pause), F5 (restart) — no mouse needed for stepping.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CODE FLOW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>
                <a:solidFill>
                  <a:srgbClr val="FFFFFF"/>
                </a:solidFill>
              </a:rPr>
              <a:t>Interactive SVG flowchart generated from the live execution trace.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C96A48"/>
                </a:solidFill>
              </a:rPr>
              <a:t>Node Types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entry / exit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condition (if/else)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loop (for/while)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call / return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func-def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noise (filtered out)</a:t>
            </a:r>
          </a:p>
          <a:p>
            <a:pPr algn="l"/>
            <a:r>
              <a:rPr sz="500" b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1">
                <a:solidFill>
                  <a:srgbClr val="C96A48"/>
                </a:solidFill>
              </a:rPr>
              <a:t>Interactions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Pan (drag), zoom (scroll wheel), reset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Click any node for detail panel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Detail shows: code, type, exec count, variables, call stack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Back-edge detection for loop arrows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Per-node clipPath (no text overflow)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Resets automatically on new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463040"/>
            <a:ext cx="4572000" cy="502920"/>
          </a:xfrm>
          <a:prstGeom prst="rect">
            <a:avLst/>
          </a:prstGeom>
          <a:solidFill>
            <a:srgbClr val="C96A48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ENTRY: main()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148840"/>
            <a:ext cx="4572000" cy="502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1945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CONDITION: if (n &gt; 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34640"/>
            <a:ext cx="2103120" cy="502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880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CALL: add(a, 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834640"/>
            <a:ext cx="2468880" cy="502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LOOP: for i in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20440"/>
            <a:ext cx="2103120" cy="502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566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RETURN: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3520440"/>
            <a:ext cx="2468880" cy="502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3566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LOOP BODY: ×3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206240"/>
            <a:ext cx="4572000" cy="502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2519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EXIT: return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892040"/>
            <a:ext cx="4572000" cy="502920"/>
          </a:xfrm>
          <a:prstGeom prst="rect">
            <a:avLst/>
          </a:prstGeom>
          <a:solidFill>
            <a:srgbClr val="A04E30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937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6A48"/>
                </a:solidFill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697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6A48"/>
                </a:solidFill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6A48"/>
                </a:solidFill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6A48"/>
                </a:solidFill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6A48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AI INTEGRATION — GEMINI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0749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✦ Generate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Natural language → working code.
Describe what you want, Gemini writes it directly into the Monaco editor.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>
                <a:solidFill>
                  <a:srgbClr val="C96A48"/>
                </a:solidFill>
              </a:rPr>
              <a:t>Highlights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Supports all 4 languages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Fills editor on generation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Loading state with spinner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417320"/>
            <a:ext cx="3749039" cy="50749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417320"/>
            <a:ext cx="3749039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481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✦ Explain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03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Full AI walkthrough of what the current code does: logic, complexity (Big-O), edge cases, and suggestions.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8862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>
                <a:solidFill>
                  <a:srgbClr val="C96A48"/>
                </a:solidFill>
              </a:rPr>
              <a:t>Highlights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Triggered via floating FAB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Shows complexity analysis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Markdown-rendered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417320"/>
            <a:ext cx="3749039" cy="50749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417320"/>
            <a:ext cx="3749039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481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✦ Optimise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10312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Sends execution hotspot data + code to Gemini. Returns targeted performance recommendations with reasoning.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3886200"/>
            <a:ext cx="3383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>
                <a:solidFill>
                  <a:srgbClr val="C96A48"/>
                </a:solidFill>
              </a:rPr>
              <a:t>Highlights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Uses heatmap data as context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Identifies bottleneck lines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• Actionable suggestions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96A48"/>
                </a:solidFill>
              </a:rPr>
              <a:t>⚡  All AI features use the floating FAB pattern — always accessible bottom-right, never buried in toolbar menus.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LANGUAGE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8288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1790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463040"/>
            <a:ext cx="13716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17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118872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1790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463040"/>
            <a:ext cx="22860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5179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Debugger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463040"/>
            <a:ext cx="18288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51790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Live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60" y="1463040"/>
            <a:ext cx="13716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17904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95560" y="1463040"/>
            <a:ext cx="1828800" cy="50292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51790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Flow 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965960"/>
            <a:ext cx="18288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6A48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1965960"/>
            <a:ext cx="13716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0574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1965960"/>
            <a:ext cx="118872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0574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965960"/>
            <a:ext cx="22860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2057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 LLDB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1965960"/>
            <a:ext cx="18288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 clang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1965960"/>
            <a:ext cx="13716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0574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95560" y="1965960"/>
            <a:ext cx="18288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0574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651760"/>
            <a:ext cx="18288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743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6A48"/>
                </a:solidFill>
              </a:rPr>
              <a:t>C++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2651760"/>
            <a:ext cx="13716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94560" y="2743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2651760"/>
            <a:ext cx="118872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27432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2651760"/>
            <a:ext cx="22860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 LLDB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5160" y="2651760"/>
            <a:ext cx="18288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2743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 clang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23960" y="2651760"/>
            <a:ext cx="13716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27432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2651760"/>
            <a:ext cx="18288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0" y="2743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337560"/>
            <a:ext cx="18288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6A48"/>
                </a:solidFill>
              </a:rPr>
              <a:t>Python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48840" y="3337560"/>
            <a:ext cx="13716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34290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20440" y="3337560"/>
            <a:ext cx="118872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0" y="34290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09160" y="3337560"/>
            <a:ext cx="22860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3429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 sys.settrace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5160" y="3337560"/>
            <a:ext cx="18288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23960" y="3337560"/>
            <a:ext cx="13716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34290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95560" y="3337560"/>
            <a:ext cx="1828800" cy="658368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4128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023360"/>
            <a:ext cx="18288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41148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6A48"/>
                </a:solidFill>
              </a:rPr>
              <a:t>Java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4023360"/>
            <a:ext cx="13716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94560" y="41148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20440" y="4023360"/>
            <a:ext cx="118872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566160" y="41148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4023360"/>
            <a:ext cx="22860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0" y="4114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 JVM tracer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95160" y="4023360"/>
            <a:ext cx="18288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40880" y="41148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4023360"/>
            <a:ext cx="13716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69680" y="41148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95560" y="4023360"/>
            <a:ext cx="1828800" cy="658368"/>
          </a:xfrm>
          <a:prstGeom prst="rect">
            <a:avLst/>
          </a:prstGeom>
          <a:solidFill>
            <a:srgbClr val="181824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241280" y="41148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663440"/>
            <a:ext cx="3749039" cy="173736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C / C++ — LLDB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1663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Full LLDB session via Python API. Step into stdlib. View raw pointer values, struct members, and memory addresses.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70248" y="4663440"/>
            <a:ext cx="3749039" cy="173736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07408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Python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07408" y="51663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subprocess sys.settrace tracer. Captures local scope at every line. JSON snapshot output. No GIL issues.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20456" y="4663440"/>
            <a:ext cx="3749039" cy="173736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57616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Java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6" y="5166360"/>
            <a:ext cx="3474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JVM-level tracer. Method entry/exit events, local variable inspection. Outputs compatible snapshot format.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AUTH &amp;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011680" cy="82296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User clicks
Sign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37360"/>
            <a:ext cx="2011680" cy="82296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Google OAuth
Popup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737360"/>
            <a:ext cx="2011680" cy="82296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Callback →
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737360"/>
            <a:ext cx="2011680" cy="82296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JWT Issued
(HS256)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737360"/>
            <a:ext cx="2011680" cy="82296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783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localStorage
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34640"/>
            <a:ext cx="3749039" cy="365760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8346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889504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JWT Token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38328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>
                <a:solidFill>
                  <a:srgbClr val="CCCCCC"/>
                </a:solidFill>
              </a:rPr>
              <a:t>• HS256 signed tokens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JTI (JWT ID) per token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Server-side JTI blocklist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Logout invalidates token immediately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Configurable TTL (default 7 days)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Token restored on page reload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834640"/>
            <a:ext cx="3749039" cy="365760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28346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9976" y="2889504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OAuth2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38328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>
                <a:solidFill>
                  <a:srgbClr val="CCCCCC"/>
                </a:solidFill>
              </a:rPr>
              <a:t>• Google OAuth2 popup (no redirect)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CSRF state parameter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postMessage closes popup on success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Redirect URI server-side only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Rate-limited /auth/google endpoint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AuthContext React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2834640"/>
            <a:ext cx="3749039" cy="365760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283464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2889504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Guest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6" y="3383280"/>
            <a:ext cx="3383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>
                <a:solidFill>
                  <a:srgbClr val="CCCCCC"/>
                </a:solidFill>
              </a:rPr>
              <a:t>• provider: 'guest', role: 'guest'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Only Run is available (no Debug/AI)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Sign-in prompt on locked features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Lock icon on AI FAB for guests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No token stored</a:t>
            </a:r>
          </a:p>
          <a:p>
            <a:pPr algn="l"/>
            <a:r>
              <a:rPr sz="1300" b="0">
                <a:solidFill>
                  <a:srgbClr val="CCCCCC"/>
                </a:solidFill>
              </a:rPr>
              <a:t>• Session expires on page close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UI / UX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Smooth View Transitions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Every page switch triggers a fade+slide keyframe animation. Zero layout jumps.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248" y="146304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Onboarding Tour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6596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4-step spotlight tour for first-time users: targets real DOM elements, localStorage-gated.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46304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554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Animated Stats Counter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96596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Landing page stats count up when scrolled into view via IntersectionObserver.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5468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Testimonials Carousel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Auto-rotates every 4 seconds, dot navigation, smooth swap animation.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0248" y="315468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246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Floating AI FAB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6576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Always-visible AI button, bottom-right. Pulses when ready, spinner when loading, lock when guest.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315468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3246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Performance Score Badge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65760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⚡ Blazing / 🟡 Moderate / 🔴 Heavy badge animates in next to the step counter.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4632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Share Code Button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92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Encodes code+language to URL hash. One click. No backend. Toast confirmation.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84632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Responsive Theme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53492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5 themes. CSS variables only. Monaco editor themes matched. Zero hardcoded colors.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4846320"/>
            <a:ext cx="3749039" cy="1554480"/>
          </a:xfrm>
          <a:prstGeom prst="rect">
            <a:avLst/>
          </a:prstGeom>
          <a:solidFill>
            <a:srgbClr val="1E1E2A"/>
          </a:solidFill>
          <a:ln w="9525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Docs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5349240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Full documentation: Flow Graph, Heatmap, Breakpoints, Share Code, AI Insights, Quick Start.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FULL TECH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074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6304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 b="1">
                <a:solidFill>
                  <a:srgbClr val="FFFFFF"/>
                </a:solidFill>
              </a:rPr>
              <a:t>• React 18</a:t>
            </a:r>
            <a:r>
              <a:rPr sz="1100">
                <a:solidFill>
                  <a:srgbClr val="888899"/>
                </a:solidFill>
              </a:rPr>
              <a:t> — UI framework</a:t>
            </a:r>
          </a:p>
          <a:p>
            <a:r>
              <a:rPr sz="1200" b="1">
                <a:solidFill>
                  <a:srgbClr val="FFFFFF"/>
                </a:solidFill>
              </a:rPr>
              <a:t>• Monaco Editor</a:t>
            </a:r>
            <a:r>
              <a:rPr sz="1100">
                <a:solidFill>
                  <a:srgbClr val="888899"/>
                </a:solidFill>
              </a:rPr>
              <a:t> — Code editor engine (VS Code core)</a:t>
            </a:r>
          </a:p>
          <a:p>
            <a:r>
              <a:rPr sz="1200" b="1">
                <a:solidFill>
                  <a:srgbClr val="FFFFFF"/>
                </a:solidFill>
              </a:rPr>
              <a:t>• pptxgenjs</a:t>
            </a:r>
            <a:r>
              <a:rPr sz="1100">
                <a:solidFill>
                  <a:srgbClr val="888899"/>
                </a:solidFill>
              </a:rPr>
              <a:t> — PPTX generation</a:t>
            </a:r>
          </a:p>
          <a:p>
            <a:r>
              <a:rPr sz="1200" b="1">
                <a:solidFill>
                  <a:srgbClr val="FFFFFF"/>
                </a:solidFill>
              </a:rPr>
              <a:t>• @react-pdf/renderer</a:t>
            </a:r>
            <a:r>
              <a:rPr sz="1100">
                <a:solidFill>
                  <a:srgbClr val="888899"/>
                </a:solidFill>
              </a:rPr>
              <a:t> — PDF generation</a:t>
            </a:r>
          </a:p>
          <a:p>
            <a:r>
              <a:rPr sz="1200" b="1">
                <a:solidFill>
                  <a:srgbClr val="FFFFFF"/>
                </a:solidFill>
              </a:rPr>
              <a:t>• CSS Variables</a:t>
            </a:r>
            <a:r>
              <a:rPr sz="1100">
                <a:solidFill>
                  <a:srgbClr val="888899"/>
                </a:solidFill>
              </a:rPr>
              <a:t> — Theme system, no preprocessor</a:t>
            </a:r>
          </a:p>
          <a:p>
            <a:r>
              <a:rPr sz="1200" b="1">
                <a:solidFill>
                  <a:srgbClr val="FFFFFF"/>
                </a:solidFill>
              </a:rPr>
              <a:t>• Google Fonts</a:t>
            </a:r>
            <a:r>
              <a:rPr sz="1100">
                <a:solidFill>
                  <a:srgbClr val="888899"/>
                </a:solidFill>
              </a:rPr>
              <a:t> — Inter + Material Symbols</a:t>
            </a:r>
          </a:p>
          <a:p>
            <a:r>
              <a:rPr sz="1200" b="1">
                <a:solidFill>
                  <a:srgbClr val="FFFFFF"/>
                </a:solidFill>
              </a:rPr>
              <a:t>• IntersectionObserver</a:t>
            </a:r>
            <a:r>
              <a:rPr sz="1100">
                <a:solidFill>
                  <a:srgbClr val="888899"/>
                </a:solidFill>
              </a:rPr>
              <a:t> — Scroll-triggered animations</a:t>
            </a:r>
          </a:p>
          <a:p>
            <a:r>
              <a:rPr sz="1200" b="1">
                <a:solidFill>
                  <a:srgbClr val="FFFFFF"/>
                </a:solidFill>
              </a:rPr>
              <a:t>• localStorage</a:t>
            </a:r>
            <a:r>
              <a:rPr sz="1100">
                <a:solidFill>
                  <a:srgbClr val="888899"/>
                </a:solidFill>
              </a:rPr>
              <a:t> — Token, breakpoints, tour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749039" cy="5074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46304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9659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 b="1">
                <a:solidFill>
                  <a:srgbClr val="FFFFFF"/>
                </a:solidFill>
              </a:rPr>
              <a:t>• FastAPI</a:t>
            </a:r>
            <a:r>
              <a:rPr sz="1100">
                <a:solidFill>
                  <a:srgbClr val="888899"/>
                </a:solidFill>
              </a:rPr>
              <a:t> — Async Python web framework</a:t>
            </a:r>
          </a:p>
          <a:p>
            <a:r>
              <a:rPr sz="1200" b="1">
                <a:solidFill>
                  <a:srgbClr val="FFFFFF"/>
                </a:solidFill>
              </a:rPr>
              <a:t>• Uvicorn</a:t>
            </a:r>
            <a:r>
              <a:rPr sz="1100">
                <a:solidFill>
                  <a:srgbClr val="888899"/>
                </a:solidFill>
              </a:rPr>
              <a:t> — ASGI server</a:t>
            </a:r>
          </a:p>
          <a:p>
            <a:r>
              <a:rPr sz="1200" b="1">
                <a:solidFill>
                  <a:srgbClr val="FFFFFF"/>
                </a:solidFill>
              </a:rPr>
              <a:t>• LLDB (Python API)</a:t>
            </a:r>
            <a:r>
              <a:rPr sz="1100">
                <a:solidFill>
                  <a:srgbClr val="888899"/>
                </a:solidFill>
              </a:rPr>
              <a:t> — C/C++ debugger</a:t>
            </a:r>
          </a:p>
          <a:p>
            <a:r>
              <a:rPr sz="1200" b="1">
                <a:solidFill>
                  <a:srgbClr val="FFFFFF"/>
                </a:solidFill>
              </a:rPr>
              <a:t>• sys.settrace</a:t>
            </a:r>
            <a:r>
              <a:rPr sz="1100">
                <a:solidFill>
                  <a:srgbClr val="888899"/>
                </a:solidFill>
              </a:rPr>
              <a:t> — Python execution tracer</a:t>
            </a:r>
          </a:p>
          <a:p>
            <a:r>
              <a:rPr sz="1200" b="1">
                <a:solidFill>
                  <a:srgbClr val="FFFFFF"/>
                </a:solidFill>
              </a:rPr>
              <a:t>• Gemini AI (google-generativeai)</a:t>
            </a:r>
            <a:r>
              <a:rPr sz="1100">
                <a:solidFill>
                  <a:srgbClr val="888899"/>
                </a:solidFill>
              </a:rPr>
              <a:t> — LLM API</a:t>
            </a:r>
          </a:p>
          <a:p>
            <a:r>
              <a:rPr sz="1200" b="1">
                <a:solidFill>
                  <a:srgbClr val="FFFFFF"/>
                </a:solidFill>
              </a:rPr>
              <a:t>• python-jose</a:t>
            </a:r>
            <a:r>
              <a:rPr sz="1100">
                <a:solidFill>
                  <a:srgbClr val="888899"/>
                </a:solidFill>
              </a:rPr>
              <a:t> — JWT (HS256)</a:t>
            </a:r>
          </a:p>
          <a:p>
            <a:r>
              <a:rPr sz="1200" b="1">
                <a:solidFill>
                  <a:srgbClr val="FFFFFF"/>
                </a:solidFill>
              </a:rPr>
              <a:t>• httpx</a:t>
            </a:r>
            <a:r>
              <a:rPr sz="1100">
                <a:solidFill>
                  <a:srgbClr val="888899"/>
                </a:solidFill>
              </a:rPr>
              <a:t> — OAuth HTTP client</a:t>
            </a:r>
          </a:p>
          <a:p>
            <a:r>
              <a:rPr sz="1200" b="1">
                <a:solidFill>
                  <a:srgbClr val="FFFFFF"/>
                </a:solidFill>
              </a:rPr>
              <a:t>• reportlab / fpdf2</a:t>
            </a:r>
            <a:r>
              <a:rPr sz="1100">
                <a:solidFill>
                  <a:srgbClr val="888899"/>
                </a:solidFill>
              </a:rPr>
              <a:t> — Server-side PDF generation</a:t>
            </a:r>
          </a:p>
          <a:p>
            <a:r>
              <a:rPr sz="1200" b="1">
                <a:solidFill>
                  <a:srgbClr val="FFFFFF"/>
                </a:solidFill>
              </a:rPr>
              <a:t>• python-pptx</a:t>
            </a:r>
            <a:r>
              <a:rPr sz="1100">
                <a:solidFill>
                  <a:srgbClr val="888899"/>
                </a:solidFill>
              </a:rPr>
              <a:t> — Server-side PPTX generation</a:t>
            </a:r>
          </a:p>
          <a:p>
            <a:r>
              <a:rPr sz="1200" b="1">
                <a:solidFill>
                  <a:srgbClr val="FFFFFF"/>
                </a:solidFill>
              </a:rPr>
              <a:t>• MongoDB (optional)</a:t>
            </a:r>
            <a:r>
              <a:rPr sz="1100">
                <a:solidFill>
                  <a:srgbClr val="888899"/>
                </a:solidFill>
              </a:rPr>
              <a:t> — Session persistence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1417320"/>
            <a:ext cx="3749039" cy="5074920"/>
          </a:xfrm>
          <a:prstGeom prst="rect">
            <a:avLst/>
          </a:prstGeom>
          <a:solidFill>
            <a:srgbClr val="1E1E2A"/>
          </a:solidFill>
          <a:ln w="1270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4" y="1463040"/>
            <a:ext cx="3529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19659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 b="1">
                <a:solidFill>
                  <a:srgbClr val="FFFFFF"/>
                </a:solidFill>
              </a:rPr>
              <a:t>• Vercel</a:t>
            </a:r>
            <a:r>
              <a:rPr sz="1100">
                <a:solidFill>
                  <a:srgbClr val="888899"/>
                </a:solidFill>
              </a:rPr>
              <a:t> — Frontend hosting + CDN</a:t>
            </a:r>
          </a:p>
          <a:p>
            <a:r>
              <a:rPr sz="1200" b="1">
                <a:solidFill>
                  <a:srgbClr val="FFFFFF"/>
                </a:solidFill>
              </a:rPr>
              <a:t>• GitHub Actions</a:t>
            </a:r>
            <a:r>
              <a:rPr sz="1100">
                <a:solidFill>
                  <a:srgbClr val="888899"/>
                </a:solidFill>
              </a:rPr>
              <a:t> — CI/CD deploy on push</a:t>
            </a:r>
          </a:p>
          <a:p>
            <a:r>
              <a:rPr sz="1200" b="1">
                <a:solidFill>
                  <a:srgbClr val="FFFFFF"/>
                </a:solidFill>
              </a:rPr>
              <a:t>• Google Cloud Console</a:t>
            </a:r>
            <a:r>
              <a:rPr sz="1100">
                <a:solidFill>
                  <a:srgbClr val="888899"/>
                </a:solidFill>
              </a:rPr>
              <a:t> — OAuth2 credentials</a:t>
            </a:r>
          </a:p>
          <a:p>
            <a:r>
              <a:rPr sz="1200" b="1">
                <a:solidFill>
                  <a:srgbClr val="FFFFFF"/>
                </a:solidFill>
              </a:rPr>
              <a:t>• clang</a:t>
            </a:r>
            <a:r>
              <a:rPr sz="1100">
                <a:solidFill>
                  <a:srgbClr val="888899"/>
                </a:solidFill>
              </a:rPr>
              <a:t> — Live syntax checking</a:t>
            </a:r>
          </a:p>
          <a:p>
            <a:r>
              <a:rPr sz="1200" b="1">
                <a:solidFill>
                  <a:srgbClr val="FFFFFF"/>
                </a:solidFill>
              </a:rPr>
              <a:t>• Node.js 18+</a:t>
            </a:r>
            <a:r>
              <a:rPr sz="1100">
                <a:solidFill>
                  <a:srgbClr val="888899"/>
                </a:solidFill>
              </a:rPr>
              <a:t> — Frontend build runtime</a:t>
            </a:r>
          </a:p>
          <a:p>
            <a:r>
              <a:rPr sz="1200" b="1">
                <a:solidFill>
                  <a:srgbClr val="FFFFFF"/>
                </a:solidFill>
              </a:rPr>
              <a:t>• Python 3.10+</a:t>
            </a:r>
            <a:r>
              <a:rPr sz="1100">
                <a:solidFill>
                  <a:srgbClr val="888899"/>
                </a:solidFill>
              </a:rPr>
              <a:t> — Backend runtime</a:t>
            </a:r>
          </a:p>
          <a:p>
            <a:r>
              <a:rPr sz="1200" b="1">
                <a:solidFill>
                  <a:srgbClr val="FFFFFF"/>
                </a:solidFill>
              </a:rPr>
              <a:t>• JWT (HS256)</a:t>
            </a:r>
            <a:r>
              <a:rPr sz="1100">
                <a:solidFill>
                  <a:srgbClr val="888899"/>
                </a:solidFill>
              </a:rPr>
              <a:t> — Stateless auth tokens</a:t>
            </a:r>
          </a:p>
          <a:p>
            <a:r>
              <a:rPr sz="1200" b="1">
                <a:solidFill>
                  <a:srgbClr val="FFFFFF"/>
                </a:solidFill>
              </a:rPr>
              <a:t>• CORS middleware</a:t>
            </a:r>
            <a:r>
              <a:rPr sz="1100">
                <a:solidFill>
                  <a:srgbClr val="888899"/>
                </a:solidFill>
              </a:rPr>
              <a:t> — Origin whitelist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73152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6A48"/>
                </a:solidFill>
              </a:rPr>
              <a:t>DEPLOYMENT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011680" cy="21031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11680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Code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Developer pushes to
main branch on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828800"/>
            <a:ext cx="2011680" cy="21031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828800"/>
            <a:ext cx="2011680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874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87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GH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926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.github/workflows/
deploy-frontend.yml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828800"/>
            <a:ext cx="2011680" cy="21031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1828800"/>
            <a:ext cx="2011680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874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487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Vercel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926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vercel --prod deploys
frontend/ directory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1828800"/>
            <a:ext cx="2011680" cy="21031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1828800"/>
            <a:ext cx="2011680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1874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2487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SPA Rewrite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926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vercel.json rewrites
all routes → index.html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606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6A48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828800"/>
            <a:ext cx="2011680" cy="2103120"/>
          </a:xfrm>
          <a:prstGeom prst="rect">
            <a:avLst/>
          </a:prstGeom>
          <a:solidFill>
            <a:srgbClr val="1E1E2A"/>
          </a:solidFill>
          <a:ln w="190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4080" y="1828800"/>
            <a:ext cx="2011680" cy="54864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874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487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6A48"/>
                </a:solidFill>
              </a:rPr>
              <a:t>Live 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9260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frontend-gamma-vert-20
.vercel.app updated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251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6A48"/>
                </a:solidFill>
              </a:rPr>
              <a:t>Required GitHub Secrets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09160"/>
            <a:ext cx="2286000" cy="438912"/>
          </a:xfrm>
          <a:prstGeom prst="rect">
            <a:avLst/>
          </a:prstGeom>
          <a:solidFill>
            <a:srgbClr val="1E1E2A"/>
          </a:solidFill>
          <a:ln w="63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754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A48"/>
                </a:solidFill>
              </a:rPr>
              <a:t>VERCEL_TOKEN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4709160"/>
            <a:ext cx="2743200" cy="438912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Personal access token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12080"/>
            <a:ext cx="2286000" cy="438912"/>
          </a:xfrm>
          <a:prstGeom prst="rect">
            <a:avLst/>
          </a:prstGeom>
          <a:solidFill>
            <a:srgbClr val="1E1E2A"/>
          </a:solidFill>
          <a:ln w="63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2578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A48"/>
                </a:solidFill>
              </a:rPr>
              <a:t>VERCEL_ORG_ID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5212080"/>
            <a:ext cx="2743200" cy="438912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0" y="52578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Vercel team/org 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715000"/>
            <a:ext cx="2286000" cy="438912"/>
          </a:xfrm>
          <a:prstGeom prst="rect">
            <a:avLst/>
          </a:prstGeom>
          <a:solidFill>
            <a:srgbClr val="1E1E2A"/>
          </a:solidFill>
          <a:ln w="6350">
            <a:solidFill>
              <a:srgbClr val="C96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760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6A48"/>
                </a:solidFill>
              </a:rPr>
              <a:t>VERCEL_PROJECT_ID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5715000"/>
            <a:ext cx="2743200" cy="438912"/>
          </a:xfrm>
          <a:prstGeom prst="rect">
            <a:avLst/>
          </a:prstGeom>
          <a:solidFill>
            <a:srgbClr val="1E1E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5760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Linked project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251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6A48"/>
                </a:solidFill>
              </a:rPr>
              <a:t>Key Environment Variables (.env)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7091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>
                <a:solidFill>
                  <a:srgbClr val="CCCCCC"/>
                </a:solidFill>
              </a:rPr>
              <a:t>• GEMINI_API_KEY — AI features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GOOGLE_CLIENT_ID / SECRET — OAuth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JWT_SECRET — token signing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OAUTH_REDIRECT_URI — callback URL</a:t>
            </a:r>
          </a:p>
          <a:p>
            <a:pPr algn="l"/>
            <a:r>
              <a:rPr sz="1200" b="0">
                <a:solidFill>
                  <a:srgbClr val="CCCCCC"/>
                </a:solidFill>
              </a:rPr>
              <a:t>• MONGO_URI — optional persistence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68580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TRACEON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96A48"/>
                </a:solidFill>
              </a:rPr>
              <a:t>AI-Powered Execution Flow Visualizer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Debug smarter. Understand deeper. Build faster.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A48"/>
                </a:solidFill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frontend-gamma-vert-20.vercel.app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468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A48"/>
                </a:solidFill>
              </a:rPr>
              <a:t>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8036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React · FastAPI · LLDB
Gemini AI · Vercel ·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840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6A48"/>
                </a:solidFill>
              </a:rPr>
              <a:t>Built with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2519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React 18 + Monaco Editor
FastAPI + python-pptx
@react-pdf/renderer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nishantkumar19041@gmail.com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943600"/>
            <a:ext cx="8229600" cy="914400"/>
          </a:xfrm>
          <a:prstGeom prst="rect">
            <a:avLst/>
          </a:prstGeom>
          <a:solidFill>
            <a:srgbClr val="C9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Try Traceon →  frontend-gamma-vert-20.vercel.app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04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99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